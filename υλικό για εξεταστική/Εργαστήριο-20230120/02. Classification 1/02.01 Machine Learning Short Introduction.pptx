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Slab"/>
      <p:regular r:id="rId20"/>
      <p:bold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452392dd7d_0_3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452392dd7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52392dd7d_0_3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452392dd7d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52392dd7d_0_3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52392dd7d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4e95fcc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4e95fcc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452392dd7d_0_4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452392dd7d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52392dd7d_0_4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52392dd7d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52392dd7d_0_4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452392dd7d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52392dd7d_0_4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452392dd7d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452392dd7d_0_4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452392dd7d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92dd7d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92dd7d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  <a:defRPr sz="2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rchive.ics.uci.edu/ml/datasets/Breast+Cancer+Wisconsin+(Diagnostic)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scikit-learn.org/stable/" TargetMode="External"/><Relationship Id="rId4" Type="http://schemas.openxmlformats.org/officeDocument/2006/relationships/hyperlink" Target="http://scikit-learn.org/stable/" TargetMode="External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Μηχανική Μάθηση </a:t>
            </a:r>
            <a:r>
              <a:rPr lang="en" sz="1755">
                <a:latin typeface="Roboto Slab"/>
                <a:ea typeface="Roboto Slab"/>
                <a:cs typeface="Roboto Slab"/>
                <a:sym typeface="Roboto Slab"/>
              </a:rPr>
              <a:t>Μαθαίνοντας από τα δεδομένα</a:t>
            </a:r>
            <a:endParaRPr sz="1755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049050" y="3924925"/>
            <a:ext cx="55056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 and Learning Systems Laboratory 2022 - 2023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348000" y="3663425"/>
            <a:ext cx="8448000" cy="8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Τρία είδη μηχανικής μάθησης: Επιβλεπόμενη (Supervised), 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Μη-επιβλεπόμενη (Unsupervised), 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Ενισχυτική (Reinforcement)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300" y="448650"/>
            <a:ext cx="4478167" cy="335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/>
          <p:nvPr/>
        </p:nvSpPr>
        <p:spPr>
          <a:xfrm>
            <a:off x="1784475" y="2151875"/>
            <a:ext cx="26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01950" y="1776250"/>
            <a:ext cx="7990800" cy="27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4010" lvl="0" marL="457200" rtl="0" algn="l">
              <a:spcBef>
                <a:spcPts val="0"/>
              </a:spcBef>
              <a:spcAft>
                <a:spcPts val="0"/>
              </a:spcAft>
              <a:buSzPts val="1660"/>
              <a:buFont typeface="Arial"/>
              <a:buChar char="●"/>
            </a:pPr>
            <a:r>
              <a:rPr lang="en" sz="1660">
                <a:latin typeface="Arial"/>
                <a:ea typeface="Arial"/>
                <a:cs typeface="Arial"/>
                <a:sym typeface="Arial"/>
              </a:rPr>
              <a:t>Για να εφαρμόσουμε μεθόδους Μηχανικής Μάθησης χρειαζόμαστε έναν ελάχιστο όγκο δεδομένων, που αποκαλούμε σύνολο δεδομένων (data set)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-334010" lvl="0" marL="457200" rtl="0" algn="l">
              <a:spcBef>
                <a:spcPts val="0"/>
              </a:spcBef>
              <a:spcAft>
                <a:spcPts val="0"/>
              </a:spcAft>
              <a:buSzPts val="1660"/>
              <a:buFont typeface="Arial"/>
              <a:buChar char="●"/>
            </a:pPr>
            <a:r>
              <a:rPr lang="en" sz="1660">
                <a:latin typeface="Arial"/>
                <a:ea typeface="Arial"/>
                <a:cs typeface="Arial"/>
                <a:sym typeface="Arial"/>
              </a:rPr>
              <a:t>Το σύνολο δεδομένων αποτελείται από έναν αριθμό δειγμάτων (samples)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-334010" lvl="0" marL="457200" rtl="0" algn="l">
              <a:spcBef>
                <a:spcPts val="0"/>
              </a:spcBef>
              <a:spcAft>
                <a:spcPts val="0"/>
              </a:spcAft>
              <a:buSzPts val="1660"/>
              <a:buFont typeface="Arial"/>
              <a:buChar char="●"/>
            </a:pPr>
            <a:r>
              <a:rPr lang="en" sz="1660">
                <a:latin typeface="Arial"/>
                <a:ea typeface="Arial"/>
                <a:cs typeface="Arial"/>
                <a:sym typeface="Arial"/>
              </a:rPr>
              <a:t>Κάθε δείγμα είναι ένα διάνυσμα που αποτελείται από χαρακτηριστικά (features)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66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/>
          <p:nvPr>
            <p:ph type="title"/>
          </p:nvPr>
        </p:nvSpPr>
        <p:spPr>
          <a:xfrm>
            <a:off x="3014250" y="106425"/>
            <a:ext cx="3115500" cy="11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Τα δεδομένα 1/4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209000" y="1544825"/>
            <a:ext cx="7708200" cy="28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1310" lvl="0" marL="457200" rtl="0" algn="l">
              <a:spcBef>
                <a:spcPts val="0"/>
              </a:spcBef>
              <a:spcAft>
                <a:spcPts val="0"/>
              </a:spcAft>
              <a:buSzPts val="1460"/>
              <a:buFont typeface="Arial"/>
              <a:buChar char="●"/>
            </a:pPr>
            <a:r>
              <a:rPr lang="en" sz="1460">
                <a:latin typeface="Arial"/>
                <a:ea typeface="Arial"/>
                <a:cs typeface="Arial"/>
                <a:sym typeface="Arial"/>
              </a:rPr>
              <a:t>Συνήθως κάθε δείγμα αναπαριστά αριθμητικά μια μέτρηση ή μια οντότητα από τον φυσικό κόσμο</a:t>
            </a:r>
            <a:endParaRPr sz="1460">
              <a:latin typeface="Arial"/>
              <a:ea typeface="Arial"/>
              <a:cs typeface="Arial"/>
              <a:sym typeface="Arial"/>
            </a:endParaRPr>
          </a:p>
          <a:p>
            <a:pPr indent="-321310" lvl="0" marL="457200" rtl="0" algn="l">
              <a:spcBef>
                <a:spcPts val="0"/>
              </a:spcBef>
              <a:spcAft>
                <a:spcPts val="0"/>
              </a:spcAft>
              <a:buSzPts val="1460"/>
              <a:buFont typeface="Arial"/>
              <a:buChar char="●"/>
            </a:pPr>
            <a:r>
              <a:rPr lang="en" sz="1460">
                <a:latin typeface="Arial"/>
                <a:ea typeface="Arial"/>
                <a:cs typeface="Arial"/>
                <a:sym typeface="Arial"/>
              </a:rPr>
              <a:t>Παράδειγμα: μετρήσαμε σήμερα τη μέση θερμοκρασία (25°C, νεφοκάλυψη (10%) και τη βαρομετρική πίεση (1013,2 mbar). Το διάνυσμα του σημερινού δείγματος θα είναι [25 10 1013,2].  Το αυριανό δείγμα θα έχει κάποιες άλλες τιμές κοκ.</a:t>
            </a:r>
            <a:endParaRPr sz="146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6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3014250" y="106425"/>
            <a:ext cx="3115500" cy="11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Τα δεδομένα 2/4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633875" y="888125"/>
            <a:ext cx="6143400" cy="39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7660" lvl="0" marL="457200" rtl="0" algn="l">
              <a:spcBef>
                <a:spcPts val="0"/>
              </a:spcBef>
              <a:spcAft>
                <a:spcPts val="0"/>
              </a:spcAft>
              <a:buSzPts val="1560"/>
              <a:buFont typeface="Arial"/>
              <a:buChar char="●"/>
            </a:pPr>
            <a:r>
              <a:rPr lang="en" sz="1560">
                <a:latin typeface="Arial"/>
                <a:ea typeface="Arial"/>
                <a:cs typeface="Arial"/>
                <a:sym typeface="Arial"/>
              </a:rPr>
              <a:t>Πολλές φορές δεν μας δίνονται μετρήσεις αλλά πρέπει να δημιουργήσουμε εμείς τα χαρακτηριστικά, να κάνουμε δηλαδή εξαγωγή χαρακτηριστικών (feature extraction) από τα αντικείμενα της συλλογής. Παραδείγματα:</a:t>
            </a:r>
            <a:endParaRPr sz="1560">
              <a:latin typeface="Arial"/>
              <a:ea typeface="Arial"/>
              <a:cs typeface="Arial"/>
              <a:sym typeface="Arial"/>
            </a:endParaRPr>
          </a:p>
          <a:p>
            <a:pPr indent="-327660" lvl="1" marL="914400" rtl="0" algn="l">
              <a:spcBef>
                <a:spcPts val="0"/>
              </a:spcBef>
              <a:spcAft>
                <a:spcPts val="0"/>
              </a:spcAft>
              <a:buSzPts val="1560"/>
              <a:buFont typeface="Arial"/>
              <a:buChar char="○"/>
            </a:pPr>
            <a:r>
              <a:rPr lang="en" sz="1560">
                <a:latin typeface="Arial"/>
                <a:ea typeface="Arial"/>
                <a:cs typeface="Arial"/>
                <a:sym typeface="Arial"/>
              </a:rPr>
              <a:t>Συλλογή εικόνων: μετατρέπουμε κάθε εικόνα σε ένα διάνυσμα όπου τα χαρακτηριστικά είναι τιμές ιστογραμμάτων χρωμάτων</a:t>
            </a:r>
            <a:endParaRPr sz="1560">
              <a:latin typeface="Arial"/>
              <a:ea typeface="Arial"/>
              <a:cs typeface="Arial"/>
              <a:sym typeface="Arial"/>
            </a:endParaRPr>
          </a:p>
          <a:p>
            <a:pPr indent="-327660" lvl="1" marL="914400" rtl="0" algn="l">
              <a:spcBef>
                <a:spcPts val="0"/>
              </a:spcBef>
              <a:spcAft>
                <a:spcPts val="0"/>
              </a:spcAft>
              <a:buSzPts val="1560"/>
              <a:buFont typeface="Arial"/>
              <a:buChar char="○"/>
            </a:pPr>
            <a:r>
              <a:rPr lang="en" sz="1560">
                <a:latin typeface="Arial"/>
                <a:ea typeface="Arial"/>
                <a:cs typeface="Arial"/>
                <a:sym typeface="Arial"/>
              </a:rPr>
              <a:t>Συλλογή κειμένων: μετατρέπουμε κάθε κείμενο σε ένα διάνυσμα όπου κάθε χαρακτηριστικό είναι η συχνότητα εμφάνισης κάθε λέξης</a:t>
            </a:r>
            <a:endParaRPr sz="156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7"/>
          <p:cNvSpPr txBox="1"/>
          <p:nvPr>
            <p:ph type="title"/>
          </p:nvPr>
        </p:nvSpPr>
        <p:spPr>
          <a:xfrm>
            <a:off x="3014250" y="106425"/>
            <a:ext cx="3115500" cy="11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Τα δεδομένα 3/4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54200" y="1382050"/>
            <a:ext cx="7782000" cy="30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7660" lvl="0" marL="457200" rtl="0" algn="l">
              <a:spcBef>
                <a:spcPts val="0"/>
              </a:spcBef>
              <a:spcAft>
                <a:spcPts val="0"/>
              </a:spcAft>
              <a:buSzPts val="1560"/>
              <a:buFont typeface="Arial"/>
              <a:buChar char="●"/>
            </a:pPr>
            <a:r>
              <a:rPr lang="en" sz="1560">
                <a:latin typeface="Arial"/>
                <a:ea typeface="Arial"/>
                <a:cs typeface="Arial"/>
                <a:sym typeface="Arial"/>
              </a:rPr>
              <a:t>Ειδικά στην επιβλεπόμενη μάθηση, σε κάθε δείγμα αντιστοιχεί και μια ετικέτα κατηγορίας ή κλάσης (class label) ή μια τιμή εξόδου. Για παράδειγμα στο δείγμα καιρού </a:t>
            </a:r>
            <a:r>
              <a:rPr lang="en" sz="1560">
                <a:latin typeface="Arial"/>
                <a:ea typeface="Arial"/>
                <a:cs typeface="Arial"/>
                <a:sym typeface="Arial"/>
              </a:rPr>
              <a:t>[25 10 1013,2] της σημερινής μέρας μπορεί να αντιστοιχεί :</a:t>
            </a:r>
            <a:endParaRPr sz="1560">
              <a:latin typeface="Arial"/>
              <a:ea typeface="Arial"/>
              <a:cs typeface="Arial"/>
              <a:sym typeface="Arial"/>
            </a:endParaRPr>
          </a:p>
          <a:p>
            <a:pPr indent="-327660" lvl="1" marL="914400" rtl="0" algn="l">
              <a:spcBef>
                <a:spcPts val="0"/>
              </a:spcBef>
              <a:spcAft>
                <a:spcPts val="0"/>
              </a:spcAft>
              <a:buSzPts val="1560"/>
              <a:buFont typeface="Arial"/>
              <a:buChar char="○"/>
            </a:pPr>
            <a:r>
              <a:rPr lang="en" sz="1560">
                <a:latin typeface="Arial"/>
                <a:ea typeface="Arial"/>
                <a:cs typeface="Arial"/>
                <a:sym typeface="Arial"/>
              </a:rPr>
              <a:t>η ετικέτα “Έβρεξε/Δεν έβρεξε” ή </a:t>
            </a:r>
            <a:endParaRPr sz="1560">
              <a:latin typeface="Arial"/>
              <a:ea typeface="Arial"/>
              <a:cs typeface="Arial"/>
              <a:sym typeface="Arial"/>
            </a:endParaRPr>
          </a:p>
          <a:p>
            <a:pPr indent="-327660" lvl="1" marL="914400" rtl="0" algn="l">
              <a:spcBef>
                <a:spcPts val="0"/>
              </a:spcBef>
              <a:spcAft>
                <a:spcPts val="0"/>
              </a:spcAft>
              <a:buSzPts val="1560"/>
              <a:buFont typeface="Arial"/>
              <a:buChar char="○"/>
            </a:pPr>
            <a:r>
              <a:rPr lang="en" sz="1560">
                <a:latin typeface="Arial"/>
                <a:ea typeface="Arial"/>
                <a:cs typeface="Arial"/>
                <a:sym typeface="Arial"/>
              </a:rPr>
              <a:t>η τιμή εξόδου 1,5 που αντιστοιχεί στα mm βροχής</a:t>
            </a:r>
            <a:endParaRPr sz="156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60">
                <a:latin typeface="Arial"/>
                <a:ea typeface="Arial"/>
                <a:cs typeface="Arial"/>
                <a:sym typeface="Arial"/>
              </a:rPr>
              <a:t>που παρατηρήθηκαν τη συγκεκριμένη μέρα</a:t>
            </a:r>
            <a:endParaRPr sz="1560">
              <a:latin typeface="Arial"/>
              <a:ea typeface="Arial"/>
              <a:cs typeface="Arial"/>
              <a:sym typeface="Arial"/>
            </a:endParaRPr>
          </a:p>
          <a:p>
            <a:pPr indent="-327660" lvl="0" marL="457200" rtl="0" algn="l">
              <a:spcBef>
                <a:spcPts val="0"/>
              </a:spcBef>
              <a:spcAft>
                <a:spcPts val="0"/>
              </a:spcAft>
              <a:buSzPts val="1560"/>
              <a:buFont typeface="Arial"/>
              <a:buChar char="●"/>
            </a:pPr>
            <a:r>
              <a:rPr lang="en" sz="1560">
                <a:latin typeface="Arial"/>
                <a:ea typeface="Arial"/>
                <a:cs typeface="Arial"/>
                <a:sym typeface="Arial"/>
              </a:rPr>
              <a:t>Οι ετικέτες ή οι τιμές χρησιμοποιούνται για  την εκπαίδευση του συστήματος στην </a:t>
            </a:r>
            <a:endParaRPr sz="156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60">
                <a:latin typeface="Arial"/>
                <a:ea typeface="Arial"/>
                <a:cs typeface="Arial"/>
                <a:sym typeface="Arial"/>
              </a:rPr>
              <a:t>επιβλεπόμενη μάθηση</a:t>
            </a:r>
            <a:endParaRPr sz="156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 txBox="1"/>
          <p:nvPr>
            <p:ph type="title"/>
          </p:nvPr>
        </p:nvSpPr>
        <p:spPr>
          <a:xfrm>
            <a:off x="3014250" y="106425"/>
            <a:ext cx="3115500" cy="11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Τα δεδομένα 4/4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/>
        </p:nvSpPr>
        <p:spPr>
          <a:xfrm>
            <a:off x="3660000" y="382075"/>
            <a:ext cx="48720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Παράδειγμα dataset: </a:t>
            </a:r>
            <a:r>
              <a:rPr lang="en" sz="1700" u="sng">
                <a:solidFill>
                  <a:srgbClr val="1C3678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Wisconsin Breast Cancer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675" y="721712"/>
            <a:ext cx="3445476" cy="23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875" y="3210100"/>
            <a:ext cx="8860824" cy="18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8174" y="1071900"/>
            <a:ext cx="158115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563475" y="926925"/>
            <a:ext cx="43446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Επιβλεπόμενη μάθηση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 txBox="1"/>
          <p:nvPr>
            <p:ph idx="2" type="body"/>
          </p:nvPr>
        </p:nvSpPr>
        <p:spPr>
          <a:xfrm>
            <a:off x="681450" y="2005575"/>
            <a:ext cx="31038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Το σύστημα ML εκπαιδεύεται στα δεδομένα εκπαίδευσης μαζί με τις ετικέτες (επιθυμητές τιμές εξόδου) τους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Κάνει προβλέψεις πάνω σε νέα δεδομένα (για τα οποία δεν γνωρίζουμε τις ετικέτες) με στόχο τη γενίκευση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5396" y="2067746"/>
            <a:ext cx="4323825" cy="24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256100" y="1021325"/>
            <a:ext cx="77523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Επιβλεπόμενη μάθηση: Ταξινόμηση (Classification)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 txBox="1"/>
          <p:nvPr>
            <p:ph idx="2" type="body"/>
          </p:nvPr>
        </p:nvSpPr>
        <p:spPr>
          <a:xfrm>
            <a:off x="728900" y="2317150"/>
            <a:ext cx="36738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Ο ταξινομητής πρέπει να μπορεί να διαχωρίσει τα δεδομένα που ανήκουν στις διαφορετικές κλάσεις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Παράδειγμα: από τα δεδομένα καιρού να προβλέπει “Θα βρέξει”/ “Δεν θα βρέξει” (περίπτωση δυαδικής ταξινόμησης - binary classification)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850" y="2017175"/>
            <a:ext cx="3050700" cy="2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200150" y="845600"/>
            <a:ext cx="74124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Επιβλεπόμενη μάθηση: Πρόβλεψη (Regression)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2"/>
          <p:cNvSpPr txBox="1"/>
          <p:nvPr>
            <p:ph idx="1" type="subTitle"/>
          </p:nvPr>
        </p:nvSpPr>
        <p:spPr>
          <a:xfrm>
            <a:off x="819150" y="1550700"/>
            <a:ext cx="7492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Στην πρόβλεψη (ή παλινδρόμηση) προβλέπουμε την αριθμητική τιμή εξόδου των νέων δειγμάτων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 txBox="1"/>
          <p:nvPr>
            <p:ph idx="2" type="body"/>
          </p:nvPr>
        </p:nvSpPr>
        <p:spPr>
          <a:xfrm>
            <a:off x="819150" y="2467050"/>
            <a:ext cx="3555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Με βάση τα δεδομένα εκπαίδευσης και τις τιμές τους θα πρέπει να μπορούμε να προβλέπουμε τιμές εξόδου για νέα δεδομένα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Παράδειγμα: για το νέο διάνυσμα [20 40 1002,7] η έξοδος θα είναι 2 δηλαδή 2mm βροχής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375" y="2110725"/>
            <a:ext cx="2836249" cy="25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522050" y="856350"/>
            <a:ext cx="74124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Μη επιβλεπόμενη μάθηση: Ομαδοποίηση (Clustering)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 txBox="1"/>
          <p:nvPr>
            <p:ph idx="1" type="subTitle"/>
          </p:nvPr>
        </p:nvSpPr>
        <p:spPr>
          <a:xfrm>
            <a:off x="1344050" y="1779300"/>
            <a:ext cx="6968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110">
                <a:latin typeface="Arial"/>
                <a:ea typeface="Arial"/>
                <a:cs typeface="Arial"/>
                <a:sym typeface="Arial"/>
              </a:rPr>
              <a:t>Στην ομαδοποίηση προσπαθούμε να οργανώσουμε τα δεδομένα σε ομάδες (clusters) χωρίς καμία προηγούμενη γνώση για τις ομάδες  </a:t>
            </a:r>
            <a:endParaRPr sz="111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 txBox="1"/>
          <p:nvPr>
            <p:ph idx="2" type="body"/>
          </p:nvPr>
        </p:nvSpPr>
        <p:spPr>
          <a:xfrm>
            <a:off x="303950" y="2390850"/>
            <a:ext cx="47928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Θέλουμε τα αντικείμενα εντός μιας ομάδας να μοιάζουν περισσότερο μεταξύ τους παρά με τα αντικείμενα των άλλων ομάδων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Ουσιαστικά μαθαίνουμε κάτι για την άγνωστη υποκείμενη κατανομή που ακολουθούν τα δεδομένα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aramond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Παράδειγμα: Ομάδα 1: [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2  1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]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[1 1 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], Ομάδα 2: [</a:t>
            </a:r>
            <a:r>
              <a:rPr b="1"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7 5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1],  [</a:t>
            </a:r>
            <a:r>
              <a:rPr b="1"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6 8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0] ενω ο απλός μέσος όρος όλων είναι [4 3,25 4,5] δηλαδή δεν μας βοηθά να κατανοήσουμε την κατανομή των δεδομένων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6850" y="2394250"/>
            <a:ext cx="2893850" cy="25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>
            <p:ph type="title"/>
          </p:nvPr>
        </p:nvSpPr>
        <p:spPr>
          <a:xfrm>
            <a:off x="1374825" y="688875"/>
            <a:ext cx="74124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Μη επιβλεπόμενη μάθηση: Μείωση διαστατικότητας (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Dimensionality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reduction)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4"/>
          <p:cNvSpPr txBox="1"/>
          <p:nvPr>
            <p:ph idx="1" type="subTitle"/>
          </p:nvPr>
        </p:nvSpPr>
        <p:spPr>
          <a:xfrm>
            <a:off x="1158825" y="1779300"/>
            <a:ext cx="71532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Παρότι τυπικά είναι καθαρά αλγεβρικές μέθοδοι, η μείωση της διαστατικότητας μας βοηθά στη συμπίεση, στην αφαίρεση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θορύβου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και στην οπτικοποίηση των δεδομένων.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4"/>
          <p:cNvSpPr txBox="1"/>
          <p:nvPr>
            <p:ph idx="2" type="body"/>
          </p:nvPr>
        </p:nvSpPr>
        <p:spPr>
          <a:xfrm>
            <a:off x="819150" y="2390850"/>
            <a:ext cx="42777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Πολλές φορές τα δεδομένα εισόδου είναι πολύ μεγάλων διαστάσεων. Παράδειγμα: τα χαρακτηριστικά είναι όλες οι λέξεις του λεξικού μιας γλώσσας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Πολλοί άλλοι αλγόριθμοι (ταξινόμησης, ομαδοποίησης κλπ) απαιτούν ένα βήμα μείωσης διαστατικότητας στην προεπεξεργασία των δεδομένων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Η μείωση της διαστατικότητας μας βοηθά στην κατανόηση των δεδομένων και στην οπτικοποίησή τους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849" y="2401600"/>
            <a:ext cx="3863899" cy="17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2433900" y="802850"/>
            <a:ext cx="30087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Ενισχυτική μάθηση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5"/>
          <p:cNvSpPr txBox="1"/>
          <p:nvPr>
            <p:ph idx="1" type="subTitle"/>
          </p:nvPr>
        </p:nvSpPr>
        <p:spPr>
          <a:xfrm>
            <a:off x="819150" y="1550700"/>
            <a:ext cx="7492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212">
                <a:latin typeface="Arial"/>
                <a:ea typeface="Arial"/>
                <a:cs typeface="Arial"/>
                <a:sym typeface="Arial"/>
              </a:rPr>
              <a:t>Στην ενισχυτική μάθηση ο στόχος είναι να αναπτύξουμε έναν αυτόνομο πράκτορα (agent) που βελτιώνει την απόδοσή του καθώς αλληλεπιδρά με το περιβάλλον του (environment)</a:t>
            </a:r>
            <a:endParaRPr sz="1212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 txBox="1"/>
          <p:nvPr>
            <p:ph idx="2" type="body"/>
          </p:nvPr>
        </p:nvSpPr>
        <p:spPr>
          <a:xfrm>
            <a:off x="819150" y="2238450"/>
            <a:ext cx="36681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Η αξιολόγηση της απόδοσης γίνεται μέσω μιας συνάρτησης ανταμοιβής (reward function). Ο πράκτορας επιχειρεί να βρει μια σειρά ενεργειών (actions) στο περιβάλλον του που μεγιστοποιούν τη συνάρτηση ανταμοιβής (trial and error)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Παράδειγμα: ένα ρομπότ που εξερευνά τον χώρο αποφεύγωντας εμπόδια. Στη συνάρτηση ανταμοιβής μετράει θετικά η διανυόμενη απόσταση και αρνητικά οι προσκρούσεις σε αντικείμενα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350" y="2362275"/>
            <a:ext cx="434340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>
            <p:ph type="title"/>
          </p:nvPr>
        </p:nvSpPr>
        <p:spPr>
          <a:xfrm>
            <a:off x="1881900" y="268350"/>
            <a:ext cx="6961200" cy="6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scikit-learn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η κυριότερη εκπαιδευτική βιβλιοθήκη Μηχανικής Μάθησης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6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438"/>
          <a:stretch/>
        </p:blipFill>
        <p:spPr>
          <a:xfrm>
            <a:off x="1811725" y="987162"/>
            <a:ext cx="5520550" cy="389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